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1) OECD. Health at a Glance. OECD Publishing.
2) WHO. World Health Report 2000.
3) PHCPI. PHC Measurement/Indicator Framework.
4) Everitt et al. Cluster Analysis (Wiley).
5) Hastie et al. Elements of Statistical Learning (Springer).
6) OECD/JRC-EC. Handbook on Constructing Composite Indicators (OECD).
7) Bradley et al. Implementation Science (2009) 4:25.
8) Marsh et al. BMJ (2004) 329:1177–1179.
9) Saltelli et al. Global Sensitivity Analysis: The Primer (Wiley).
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Composite indicator and multivariate distance approaches: Everitt et al.; Hastie et al.; OECD/JRC Handbook.
Positive deviance framing: Bradley et al.; Marsh et al.
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Multistage selection + composite methods: OECD/JRC Handbook; Everitt et al.
Positive deviance: Bradley et al.; Marsh et al.
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Comparability constraints in system benchmarking: WHO 2000; PHCPI methodology docs; OECD benchmarking conventions.
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Standardization + distance methods are standard in clustering/composite indicator construction: Everitt et al.; Hastie et al.; OECD/JRC Handbook.
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Positive deviance framing: Bradley et al. (Implementation Science, 2009); Marsh et al. (BMJ, 2004).
Parameter tunability + sensitivity checks: OECD/JRC Handbook; Saltelli et al.
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Country Selection Methodology for Ethiopia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virtual benchmarking for HRH accountability, productivity &amp; absenteeism reduction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011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Informing HRH reform and HRH-II design for HEP in Ethiopia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514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methodology deck (text-only)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methodology?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Goal, logic, and what the outputs are used for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objective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small set of comparator countries to support evidence-based learning for Ethiopia’s HRH priorities.</a:t>
            </a:r>
            <a:endParaRPr lang="en-US" sz="1800" dirty="0"/>
          </a:p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two learning needs: (1) ‘baseline peers’ for realism, and (2) ‘positive deviants’ for actionable improvement lessons.</a:t>
            </a:r>
            <a:endParaRPr lang="en-US" sz="1800" dirty="0"/>
          </a:p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selection transparent and tunable (parameters can be sensitivity-tested).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outputs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comparators (top K closest countries by multivariate distance).</a:t>
            </a:r>
            <a:endParaRPr lang="en-US" sz="1800" dirty="0"/>
          </a:p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Aspirational comparators (near-peers that outperform Ethiopia on key indicators).</a:t>
            </a:r>
            <a:endParaRPr lang="en-US" sz="1800" dirty="0"/>
          </a:p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guidance: similarity_distance and (for aspirational) better_count.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Three-step benchmarking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grouping → Similarity scoring → Dual comparator selection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44200" cy="44805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87452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03911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231343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grouping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74320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candidates to ensure like-with-like comparison (contextual similarity).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87452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03911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31343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74320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standardized multivariate distance to Ethiopia using selected indicators.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12480" y="1874520"/>
            <a:ext cx="3337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203911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41080" y="231343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comparator selection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41080" y="2743200"/>
            <a:ext cx="2880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(A) similarity peers and (B) aspirational near-peers (positive deviants).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5897880"/>
            <a:ext cx="1074420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6080760"/>
            <a:ext cx="10287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dual sets?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6446520"/>
            <a:ext cx="10287000" cy="-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peers provide a realism baseline; aspirational near-peers support learning from better performers under broadly comparable constraints (positive deviance).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Peer grouping (context filter)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spurious matches by enforcing comparability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filter criteria (where available in the dataset)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10972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group (e.g., lower-middle income).</a:t>
            </a:r>
            <a:endParaRPr lang="en-US" sz="1800" dirty="0"/>
          </a:p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/ epidemiologic context (broad comparability stratum).</a:t>
            </a:r>
            <a:endParaRPr lang="en-US" sz="1800" dirty="0"/>
          </a:p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Program (CHP) presence (program design feature).</a:t>
            </a:r>
            <a:endParaRPr lang="en-US" sz="1800" dirty="0"/>
          </a:p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note: Exclude highly granular CHW taxonomy when it creates brittle filtering (e.g., ‘Types of CHW’).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4526280"/>
            <a:ext cx="11064240" cy="1371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70916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50749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Cross-country HRH comparisons are easiest to misread when countries differ fundamentally in resources or system architecture. A peer filter forces explicit ‘like-with-like’ comparisons before any numeric scoring.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6035040"/>
            <a:ext cx="1106424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62179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output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6583680"/>
            <a:ext cx="10607040" cy="-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reduced candidate pool that is sufficiently comparable to Ethiopia to justify distance-based benchmarking.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Similarity scoring (Similarity Distance Score)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indicators and compute weighted distance to Ethiopia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set (numeric)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/ need: MMR, U5M, NMR, TFR</a:t>
            </a:r>
            <a:endParaRPr lang="en-US" sz="1800" dirty="0"/>
          </a:p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/ system performance proxies: CPR, PHC (index/proxy)</a:t>
            </a:r>
            <a:endParaRPr lang="en-US" sz="1800" dirty="0"/>
          </a:p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constraints: Urbanization, GDP per capita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and distance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10789920" cy="20116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794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per indicator j: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4069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zᵢⱼ = (xᵢⱼ − μⱼ) / σⱼ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577840" y="37947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Euclidean distance to Ethiopia: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40690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dᵢ = √( Σⱼ wⱼ ( zᵢⱼ − zᴱᵀᴴⱼ )² )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5806440"/>
            <a:ext cx="11064240" cy="960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control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6355080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excessive missingness are excluded to avoid unstable distance scores and biased comparisons.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Dual comparator selection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comparators vs aspirational comparators (positive deviance)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54406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0" y="1143000"/>
            <a:ext cx="54406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71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Similarity comparators (baseline peers)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87452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countries by similarity_distance ascending.</a:t>
            </a:r>
            <a:endParaRPr lang="en-US" sz="1600" dirty="0"/>
          </a:p>
          <a:p>
            <a:pPr marL="182880" indent="-18288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top K closest countries.</a:t>
            </a:r>
            <a:endParaRPr lang="en-US" sz="1600" dirty="0"/>
          </a:p>
          <a:p>
            <a:pPr marL="182880" indent="-18288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realism baseline: what’s typical under similar constraints.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4343400"/>
            <a:ext cx="5029200" cy="1920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8920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K countries with the smallest similarity_distance to Ethiopia.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13716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Aspirational comparators (near-peers that outperform)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1920240"/>
            <a:ext cx="5120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an aspirational pool: closest ~30% by similarity_distance.</a:t>
            </a:r>
            <a:endParaRPr lang="en-US" sz="1500" dirty="0"/>
          </a:p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better_count across priority indicators:</a:t>
            </a:r>
            <a:endParaRPr lang="en-US" sz="1500" dirty="0"/>
          </a:p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Lower is better: MMR, U5M, NMR, TFR</a:t>
            </a:r>
            <a:endParaRPr lang="en-US" sz="1500" dirty="0"/>
          </a:p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Higher is better: CPR, PHC</a:t>
            </a:r>
            <a:endParaRPr lang="en-US" sz="1500" dirty="0"/>
          </a:p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countries with better_count ≥ 3.</a:t>
            </a:r>
            <a:endParaRPr lang="en-US" sz="1500" dirty="0"/>
          </a:p>
          <a:p>
            <a:pPr marL="171450" indent="-1714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better_count (desc), then similarity_distance (asc).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0" y="5486400"/>
            <a:ext cx="5120640" cy="10515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5669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6035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‘positive deviants’: better performers that remain contextually close enough to yield transferable lessons.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interpret the outputs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‘small’ vs ‘large’ means and how to read aspirational results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distance (similarity_distance)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similarity_distance = more similar to Ethiopia across the full indicator set (context + outcomes).</a:t>
            </a:r>
            <a:endParaRPr lang="en-US" sz="1800" dirty="0"/>
          </a:p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similarity_distance = less similar.</a:t>
            </a:r>
            <a:endParaRPr lang="en-US" sz="1800" dirty="0"/>
          </a:p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distance (not a percentage) and is best interpreted relative to other countries in the same run.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Aspirational results (read two columns together)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better_count: higher = better relative to Ethiopia on priority indicators.</a:t>
            </a:r>
            <a:endParaRPr lang="en-US" sz="1800" dirty="0"/>
          </a:p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similarity_distance: lower = closer overall to Ethiopia’s context/outcome profile.</a:t>
            </a:r>
            <a:endParaRPr lang="en-US" sz="1800" dirty="0"/>
          </a:p>
          <a:p>
            <a:pPr marL="205740" indent="-20574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aspirational comparators balance BOTH: (a) multiple improvements and (b) contextual closeness (not outliers).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5394960"/>
            <a:ext cx="11064240" cy="11887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5778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peers help set a realistic baseline; aspirational near-peers guide ‘what to emulate’ and what enabling conditions may be required to reproduce results.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(for methodology slides)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works supporting benchmarking, composite indicators, and positive deviance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97280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OECD. Health at a Glance (latest edition used). Paris: OECD Publishing.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World Health Organization. The World Health Report 2000: Health Systems—Improving Performance. Geneva: WHO; 2000.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Primary Health Care Performance Initiative (PHCPI). PHC Measurement/Indicator Framework and Methodology Documentation.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Everitt BS, Landau S, Leese M, Stahl D. Cluster Analysis. 5th ed. Chichester: Wiley; 2011.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Hastie T, Tibshirani R, Friedman J. The Elements of Statistical Learning. 2nd ed. New York: Springer; 2009.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OECD; Joint Research Centre–European Commission. Handbook on Constructing Composite Indicators. Paris: OECD Publishing; 2008.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Bradley EH, et al. Using positive deviance to improve quality of health care. Implementation Science. 2009;4:25.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Marsh DR, et al. The power of positive deviance. BMJ. 2004;329:1177–1179.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Saltelli A, et al. Global Sensitivity Analysis: The Primer. Chichester: Wiley; 2008.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Alula / HRH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Comparator Country Selection Methodology for Ethiopia</dc:title>
  <dc:subject>Comparator Country Selection Methodology (Ethiopia)</dc:subject>
  <dc:creator>Alula Teklu</dc:creator>
  <cp:lastModifiedBy>Alula Teklu</cp:lastModifiedBy>
  <cp:revision>1</cp:revision>
  <dcterms:created xsi:type="dcterms:W3CDTF">2026-02-14T04:55:34Z</dcterms:created>
  <dcterms:modified xsi:type="dcterms:W3CDTF">2026-02-14T04:55:34Z</dcterms:modified>
</cp:coreProperties>
</file>